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5388" autoAdjust="0"/>
  </p:normalViewPr>
  <p:slideViewPr>
    <p:cSldViewPr snapToGrid="0">
      <p:cViewPr varScale="1">
        <p:scale>
          <a:sx n="127" d="100"/>
          <a:sy n="127" d="100"/>
        </p:scale>
        <p:origin x="110" y="20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251525F-CA02-45B6-8BE5-17305369F782}" type="datetime1">
              <a:rPr lang="es-ES" smtClean="0"/>
              <a:t>14/09/2026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FA70580-B89C-4157-871D-6B9318EE5F5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BFF449C-E3E0-45CA-8FC8-EE3F6E0B8129}" type="datetime1">
              <a:rPr lang="es-ES" smtClean="0"/>
              <a:t>14/09/2026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7AF00E9-A49D-4007-B3B9-A3783809E50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6108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95159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4270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s-ES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b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b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b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b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Forma lib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8" name="Marcador de posición de imagen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es-ES" sz="18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b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b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b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s-ES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es-ES" sz="1800">
                <a:solidFill>
                  <a:schemeClr val="tx1"/>
                </a:solidFill>
              </a:defRPr>
            </a:lvl1pPr>
            <a:lvl2pPr algn="r">
              <a:defRPr lang="es-ES" sz="1200">
                <a:solidFill>
                  <a:schemeClr val="tx1"/>
                </a:solidFill>
              </a:defRPr>
            </a:lvl2pPr>
            <a:lvl3pPr algn="r">
              <a:defRPr lang="es-ES" sz="1200">
                <a:solidFill>
                  <a:schemeClr val="tx1"/>
                </a:solidFill>
              </a:defRPr>
            </a:lvl3pPr>
            <a:lvl4pPr algn="r">
              <a:defRPr lang="es-ES" sz="1200">
                <a:solidFill>
                  <a:schemeClr val="tx1"/>
                </a:solidFill>
              </a:defRPr>
            </a:lvl4pPr>
            <a:lvl5pPr algn="r"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orma libre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Forma libre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b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Forma lib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rtlCol="0" anchor="t" anchorCtr="0">
            <a:no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0879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s-ES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b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es-ES" sz="6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es-ES"/>
            </a:def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700" r:id="rId9"/>
    <p:sldLayoutId id="2147483688" r:id="rId10"/>
    <p:sldLayoutId id="2147483701" r:id="rId11"/>
    <p:sldLayoutId id="2147483686" r:id="rId12"/>
    <p:sldLayoutId id="214748368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dthgp27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8"/>
            <a:ext cx="4624442" cy="1713300"/>
          </a:xfrm>
          <a:noFill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r>
              <a:rPr lang="es-ES" dirty="0"/>
              <a:t>Data Mining con Python</a:t>
            </a:r>
          </a:p>
        </p:txBody>
      </p:sp>
      <p:pic>
        <p:nvPicPr>
          <p:cNvPr id="8" name="Marcador de posición de imagen 13" descr="Fondo digital de puntos de dat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8C5245D-A747-A086-551E-168FD453A943}"/>
              </a:ext>
            </a:extLst>
          </p:cNvPr>
          <p:cNvSpPr txBox="1"/>
          <p:nvPr/>
        </p:nvSpPr>
        <p:spPr>
          <a:xfrm>
            <a:off x="6960268" y="2191572"/>
            <a:ext cx="3759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  <a:p>
            <a:r>
              <a:rPr lang="es-ES" dirty="0"/>
              <a:t>Segmentación, clasificación y regresión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41F4E9-AFCF-C694-4A14-40EC4895468C}"/>
              </a:ext>
            </a:extLst>
          </p:cNvPr>
          <p:cNvSpPr txBox="1"/>
          <p:nvPr/>
        </p:nvSpPr>
        <p:spPr>
          <a:xfrm>
            <a:off x="6960268" y="2893594"/>
            <a:ext cx="357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Reto 8 — Business </a:t>
            </a:r>
            <a:r>
              <a:rPr lang="es-ES" dirty="0" err="1"/>
              <a:t>Analytics</a:t>
            </a:r>
            <a:r>
              <a:rPr lang="es-ES" dirty="0"/>
              <a:t> Nivel 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2D5433-FA21-B7A3-C96F-A8F64F9FA92E}"/>
              </a:ext>
            </a:extLst>
          </p:cNvPr>
          <p:cNvSpPr txBox="1"/>
          <p:nvPr/>
        </p:nvSpPr>
        <p:spPr>
          <a:xfrm>
            <a:off x="7018020" y="3429000"/>
            <a:ext cx="321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Autor:</a:t>
            </a:r>
            <a:r>
              <a:rPr lang="es-ES" dirty="0"/>
              <a:t> Judit Giravent · 09/2026</a:t>
            </a:r>
          </a:p>
        </p:txBody>
      </p:sp>
      <p:pic>
        <p:nvPicPr>
          <p:cNvPr id="6" name="ttsmaker-file-2026-9-14-20-4-3">
            <a:hlinkClick r:id="" action="ppaction://media"/>
            <a:extLst>
              <a:ext uri="{FF2B5EF4-FFF2-40B4-BE49-F238E27FC236}">
                <a16:creationId xmlns:a16="http://schemas.microsoft.com/office/drawing/2014/main" id="{77E4D6D0-1875-96AE-8685-804746A95B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32593" y="54524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¿Qué queremos descubrir?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F148D9-8C74-A59F-81B7-769D2919360F}"/>
              </a:ext>
            </a:extLst>
          </p:cNvPr>
          <p:cNvSpPr txBox="1"/>
          <p:nvPr/>
        </p:nvSpPr>
        <p:spPr>
          <a:xfrm>
            <a:off x="744454" y="2480282"/>
            <a:ext cx="6097002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Bullets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Dataset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Wholesale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Customers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(UCI)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440 clientes mayoristas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de un distribuidor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8 variables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de gasto en diferentes categorías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Objetivo: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descubrir patrones de compra para segmentar clientes y predecir comportamientos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" name="ttsmaker-file-2026-9-14-20-7-21">
            <a:hlinkClick r:id="" action="ppaction://media"/>
            <a:extLst>
              <a:ext uri="{FF2B5EF4-FFF2-40B4-BE49-F238E27FC236}">
                <a16:creationId xmlns:a16="http://schemas.microsoft.com/office/drawing/2014/main" id="{5126810A-5412-EE4A-2633-7E94B1C453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36246" y="574725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88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00" y="4183827"/>
            <a:ext cx="5049837" cy="761152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r>
              <a:rPr lang="es-ES" dirty="0"/>
              <a:t>Nuestro enfoque</a:t>
            </a:r>
          </a:p>
        </p:txBody>
      </p:sp>
      <p:pic>
        <p:nvPicPr>
          <p:cNvPr id="11" name="Marcador de posición de imagen 15" descr="Fondo digital de puntos de dat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A7CAD7F-445C-33B8-7BE2-8B2B7B8135C8}"/>
              </a:ext>
            </a:extLst>
          </p:cNvPr>
          <p:cNvSpPr txBox="1"/>
          <p:nvPr/>
        </p:nvSpPr>
        <p:spPr>
          <a:xfrm>
            <a:off x="5501440" y="3904920"/>
            <a:ext cx="70896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   Diagrama (3 bloques):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1. CLUSTERING     →  2. CLASIFICACIÓN   →  3. REGRESIÓN</a:t>
            </a: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  K-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means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                     Árbol de decisión              Lineal</a:t>
            </a: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  (segmentar)                  (predecir canal)         (predecir gasto)</a:t>
            </a:r>
            <a:endParaRPr lang="es-ES" sz="975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8DE879E-011C-B81C-7514-F9196DB7A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053598"/>
              </p:ext>
            </p:extLst>
          </p:nvPr>
        </p:nvGraphicFramePr>
        <p:xfrm>
          <a:off x="298200" y="1091587"/>
          <a:ext cx="4754880" cy="194907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156307151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94890349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697722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Técnica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Algoritmo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Objetivo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72119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Clustering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K-means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Segmentar clientes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88617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Clasificación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Árbol de decisión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Predecir canal (Horeca/Retail)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6642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Regresión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Lineal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Predecir gasto en </a:t>
                      </a:r>
                      <a:r>
                        <a:rPr lang="es-ES" sz="1125" dirty="0" err="1">
                          <a:effectLst/>
                        </a:rPr>
                        <a:t>Grocery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4012376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EFCEEB6-102B-BC91-315E-D85ED17B7B22}"/>
              </a:ext>
            </a:extLst>
          </p:cNvPr>
          <p:cNvSpPr txBox="1"/>
          <p:nvPr/>
        </p:nvSpPr>
        <p:spPr>
          <a:xfrm>
            <a:off x="252664" y="593807"/>
            <a:ext cx="635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Tabla: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ttsmaker-file-2026-9-14-20-10-6">
            <a:hlinkClick r:id="" action="ppaction://media"/>
            <a:extLst>
              <a:ext uri="{FF2B5EF4-FFF2-40B4-BE49-F238E27FC236}">
                <a16:creationId xmlns:a16="http://schemas.microsoft.com/office/drawing/2014/main" id="{D5FDCA33-5041-77FB-A4EE-F46E878834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66704" y="562092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7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1090479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r>
              <a:rPr lang="es-ES" dirty="0"/>
              <a:t>Limpieza y preparación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1640305"/>
            <a:ext cx="5444455" cy="2352356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r>
              <a:rPr lang="es-ES" sz="1600" b="1" dirty="0" err="1"/>
              <a:t>Bullets</a:t>
            </a:r>
            <a:r>
              <a:rPr lang="es-ES" sz="1600" b="1" dirty="0"/>
              <a:t>:</a:t>
            </a:r>
            <a:endParaRPr lang="es-ES" sz="1600" dirty="0"/>
          </a:p>
          <a:p>
            <a:pPr lvl="0"/>
            <a:r>
              <a:rPr lang="es-ES" sz="1600" b="1" dirty="0"/>
              <a:t>440 registros, sin nulos ni duplicados</a:t>
            </a:r>
            <a:r>
              <a:rPr lang="es-ES" sz="1600" dirty="0"/>
              <a:t> ✅</a:t>
            </a:r>
          </a:p>
          <a:p>
            <a:pPr lvl="0"/>
            <a:r>
              <a:rPr lang="es-ES" sz="1600" b="1" dirty="0"/>
              <a:t>Detección de </a:t>
            </a:r>
            <a:r>
              <a:rPr lang="es-ES" sz="1600" b="1" dirty="0" err="1"/>
              <a:t>outliers</a:t>
            </a:r>
            <a:r>
              <a:rPr lang="es-ES" sz="1600" b="1" dirty="0"/>
              <a:t>:</a:t>
            </a:r>
            <a:r>
              <a:rPr lang="es-ES" sz="1600" dirty="0"/>
              <a:t> 4,5% - 9,8% por variable</a:t>
            </a:r>
          </a:p>
          <a:p>
            <a:pPr lvl="0"/>
            <a:r>
              <a:rPr lang="es-ES" sz="1600" b="1" dirty="0" err="1"/>
              <a:t>Winsorización</a:t>
            </a:r>
            <a:r>
              <a:rPr lang="es-ES" sz="1600" dirty="0"/>
              <a:t> al percentil 99 (sin perder datos)</a:t>
            </a:r>
          </a:p>
          <a:p>
            <a:pPr lvl="0"/>
            <a:r>
              <a:rPr lang="es-ES" sz="1600" b="1" dirty="0"/>
              <a:t>Normalización:</a:t>
            </a:r>
            <a:r>
              <a:rPr lang="es-ES" sz="1600" dirty="0"/>
              <a:t> </a:t>
            </a:r>
            <a:r>
              <a:rPr lang="es-ES" sz="1600" dirty="0" err="1"/>
              <a:t>StandardScaler</a:t>
            </a:r>
            <a:r>
              <a:rPr lang="es-ES" sz="1600" dirty="0"/>
              <a:t> (media=0, </a:t>
            </a:r>
            <a:r>
              <a:rPr lang="es-ES" sz="1600" dirty="0" err="1"/>
              <a:t>std</a:t>
            </a:r>
            <a:r>
              <a:rPr lang="es-ES" sz="1600" dirty="0"/>
              <a:t>=1)</a:t>
            </a:r>
          </a:p>
          <a:p>
            <a:pPr lvl="0"/>
            <a:r>
              <a:rPr lang="es-ES" sz="1600" b="1" dirty="0"/>
              <a:t>One-Hot </a:t>
            </a:r>
            <a:r>
              <a:rPr lang="es-ES" sz="1600" b="1" dirty="0" err="1"/>
              <a:t>Encoding</a:t>
            </a:r>
            <a:r>
              <a:rPr lang="es-ES" sz="1600" dirty="0"/>
              <a:t> para </a:t>
            </a:r>
            <a:r>
              <a:rPr lang="es-ES" sz="1600" dirty="0" err="1"/>
              <a:t>Region</a:t>
            </a:r>
            <a:endParaRPr lang="es-ES" sz="1600" dirty="0"/>
          </a:p>
        </p:txBody>
      </p:sp>
      <p:pic>
        <p:nvPicPr>
          <p:cNvPr id="7" name="Marcador de posición de imagen 17" descr="Una persona dibujando sobre una pizarra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8049" y="788713"/>
            <a:ext cx="5132388" cy="5132388"/>
          </a:xfrm>
          <a:solidFill>
            <a:schemeClr val="accent5"/>
          </a:solidFill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056B637-83DB-2165-215E-664A3B53E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4" y="3820026"/>
            <a:ext cx="9797698" cy="2952667"/>
          </a:xfrm>
          <a:prstGeom prst="rect">
            <a:avLst/>
          </a:prstGeom>
        </p:spPr>
      </p:pic>
      <p:pic>
        <p:nvPicPr>
          <p:cNvPr id="6" name="ttsmaker-file-2026-9-14-20-13-41">
            <a:hlinkClick r:id="" action="ppaction://media"/>
            <a:extLst>
              <a:ext uri="{FF2B5EF4-FFF2-40B4-BE49-F238E27FC236}">
                <a16:creationId xmlns:a16="http://schemas.microsoft.com/office/drawing/2014/main" id="{76B211C3-D0C0-CE25-7DF3-9E8117AE42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700251" y="49845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9657933" cy="145021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Segmentación de clientes Atraer al público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375" y="4615420"/>
            <a:ext cx="5103578" cy="20779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1" dirty="0"/>
              <a:t>Datos clave:</a:t>
            </a:r>
            <a:endParaRPr lang="es-ES" dirty="0"/>
          </a:p>
          <a:p>
            <a:pPr lvl="0"/>
            <a:r>
              <a:rPr lang="es-ES" b="1" dirty="0"/>
              <a:t>K óptimo:</a:t>
            </a:r>
            <a:r>
              <a:rPr lang="es-ES" dirty="0"/>
              <a:t> 3 (por interpretabilidad de negocio)</a:t>
            </a:r>
          </a:p>
          <a:p>
            <a:pPr lvl="0"/>
            <a:r>
              <a:rPr lang="es-ES" b="1" dirty="0" err="1"/>
              <a:t>Silhouette</a:t>
            </a:r>
            <a:r>
              <a:rPr lang="es-ES" b="1" dirty="0"/>
              <a:t>:</a:t>
            </a:r>
            <a:r>
              <a:rPr lang="es-ES" dirty="0"/>
              <a:t> 0.3953</a:t>
            </a:r>
          </a:p>
          <a:p>
            <a:pPr lvl="0"/>
            <a:r>
              <a:rPr lang="es-ES" b="1" dirty="0"/>
              <a:t>Davies-Bouldin:</a:t>
            </a:r>
            <a:r>
              <a:rPr lang="es-ES" dirty="0"/>
              <a:t> 1.2471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DB07C4-EB07-10F2-2441-A9CAFB7B0E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2" y="1046549"/>
            <a:ext cx="8527143" cy="3371531"/>
          </a:xfrm>
          <a:prstGeom prst="rect">
            <a:avLst/>
          </a:prstGeom>
        </p:spPr>
      </p:pic>
      <p:pic>
        <p:nvPicPr>
          <p:cNvPr id="6" name="ttsmaker-file-2026-9-14-20-16-43">
            <a:hlinkClick r:id="" action="ppaction://media"/>
            <a:extLst>
              <a:ext uri="{FF2B5EF4-FFF2-40B4-BE49-F238E27FC236}">
                <a16:creationId xmlns:a16="http://schemas.microsoft.com/office/drawing/2014/main" id="{3EB8197E-69F9-E055-25E7-85BE0DC4C3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110704" y="492134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3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7" descr="Fondo digital de puntos de datos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9459"/>
            <a:ext cx="6759742" cy="837131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1" dirty="0"/>
              <a:t>Los 3 segmentos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890" y="1136049"/>
            <a:ext cx="2320089" cy="29089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 Perfil de cada segmento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49275A-04BF-9D0B-A73E-167BFCA59C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01" y="3470882"/>
            <a:ext cx="6483236" cy="3049053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AE49EAC-01CE-75EF-6518-79BEB17E6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630780"/>
              </p:ext>
            </p:extLst>
          </p:nvPr>
        </p:nvGraphicFramePr>
        <p:xfrm>
          <a:off x="863684" y="1914679"/>
          <a:ext cx="11091861" cy="147244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530668">
                  <a:extLst>
                    <a:ext uri="{9D8B030D-6E8A-4147-A177-3AD203B41FA5}">
                      <a16:colId xmlns:a16="http://schemas.microsoft.com/office/drawing/2014/main" val="3933716314"/>
                    </a:ext>
                  </a:extLst>
                </a:gridCol>
                <a:gridCol w="2853731">
                  <a:extLst>
                    <a:ext uri="{9D8B030D-6E8A-4147-A177-3AD203B41FA5}">
                      <a16:colId xmlns:a16="http://schemas.microsoft.com/office/drawing/2014/main" val="3689092146"/>
                    </a:ext>
                  </a:extLst>
                </a:gridCol>
                <a:gridCol w="2853731">
                  <a:extLst>
                    <a:ext uri="{9D8B030D-6E8A-4147-A177-3AD203B41FA5}">
                      <a16:colId xmlns:a16="http://schemas.microsoft.com/office/drawing/2014/main" val="1505915102"/>
                    </a:ext>
                  </a:extLst>
                </a:gridCol>
                <a:gridCol w="2853731">
                  <a:extLst>
                    <a:ext uri="{9D8B030D-6E8A-4147-A177-3AD203B41FA5}">
                      <a16:colId xmlns:a16="http://schemas.microsoft.com/office/drawing/2014/main" val="3718505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Cluster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Clientes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Perfil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Negocio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59811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64 (14,6%)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Fresh y Frozen altos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Restaurantes / Asadores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8998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61 (13,9%)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Grocery y Detergents altos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Tiendas de alimentación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320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315 (71,6%)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Valores bajos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Clientes pequeños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54799867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0A97557A-6215-E8DE-2D41-95C70098BD87}"/>
              </a:ext>
            </a:extLst>
          </p:cNvPr>
          <p:cNvSpPr txBox="1"/>
          <p:nvPr/>
        </p:nvSpPr>
        <p:spPr>
          <a:xfrm>
            <a:off x="819651" y="1545347"/>
            <a:ext cx="2813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Tabla: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" name="ttsmaker-file-2026-9-14-20-20-33">
            <a:hlinkClick r:id="" action="ppaction://media"/>
            <a:extLst>
              <a:ext uri="{FF2B5EF4-FFF2-40B4-BE49-F238E27FC236}">
                <a16:creationId xmlns:a16="http://schemas.microsoft.com/office/drawing/2014/main" id="{568EED19-91FC-1BD7-DC2E-9BFE6B011C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285162" y="528999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66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8954084" cy="63436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1" dirty="0"/>
              <a:t>Clasificación: Árbol de decisión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8AEFD7-1C5D-20E4-D181-7EE6CE563897}"/>
              </a:ext>
            </a:extLst>
          </p:cNvPr>
          <p:cNvSpPr txBox="1"/>
          <p:nvPr/>
        </p:nvSpPr>
        <p:spPr>
          <a:xfrm>
            <a:off x="896353" y="1371600"/>
            <a:ext cx="3099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Predicción del canal de compra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8AF0DC7-CBBA-3B48-D833-B0B5D4B6F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757580"/>
              </p:ext>
            </p:extLst>
          </p:nvPr>
        </p:nvGraphicFramePr>
        <p:xfrm>
          <a:off x="994201" y="2336016"/>
          <a:ext cx="4754880" cy="184055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22429846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2119221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77097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Métrica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Train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Test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17766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Accuracy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0.9643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0.9470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531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Precision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—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0.9468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8504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Recall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—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0.9470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65347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F1-score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—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0.9468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4152052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EF3BA046-68D3-7B11-27DC-8BFE56861297}"/>
              </a:ext>
            </a:extLst>
          </p:cNvPr>
          <p:cNvSpPr txBox="1"/>
          <p:nvPr/>
        </p:nvSpPr>
        <p:spPr>
          <a:xfrm>
            <a:off x="896353" y="185380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chemeClr val="tx1"/>
                </a:solidFill>
                <a:effectLst/>
                <a:latin typeface="+mn-lt"/>
              </a:rPr>
              <a:t>Métricas:</a:t>
            </a:r>
            <a:endParaRPr lang="es-ES" sz="1800" b="0" i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BE5464-C177-EBB0-74F0-72AAC6950C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147" y="3429000"/>
            <a:ext cx="6374123" cy="3171046"/>
          </a:xfrm>
          <a:prstGeom prst="rect">
            <a:avLst/>
          </a:prstGeom>
        </p:spPr>
      </p:pic>
      <p:pic>
        <p:nvPicPr>
          <p:cNvPr id="15" name="ttsmaker-file-2026-9-14-20-23-17">
            <a:hlinkClick r:id="" action="ppaction://media"/>
            <a:extLst>
              <a:ext uri="{FF2B5EF4-FFF2-40B4-BE49-F238E27FC236}">
                <a16:creationId xmlns:a16="http://schemas.microsoft.com/office/drawing/2014/main" id="{012FF9CB-AC64-6AAD-7F5B-E5096E3AD6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34456" y="548640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24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4803190" cy="592254"/>
          </a:xfrm>
        </p:spPr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r>
              <a:rPr lang="es-ES" b="1" dirty="0"/>
              <a:t>La variable clave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672C07-739D-91E1-09BF-0563805CDD5C}"/>
              </a:ext>
            </a:extLst>
          </p:cNvPr>
          <p:cNvSpPr txBox="1"/>
          <p:nvPr/>
        </p:nvSpPr>
        <p:spPr>
          <a:xfrm>
            <a:off x="550862" y="1100889"/>
            <a:ext cx="335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Detergents_Paper</a:t>
            </a:r>
            <a:r>
              <a:rPr lang="es-ES" dirty="0"/>
              <a:t> lo cambia todo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911B830-0D36-A467-2629-B565DB4F4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00101"/>
              </p:ext>
            </p:extLst>
          </p:nvPr>
        </p:nvGraphicFramePr>
        <p:xfrm>
          <a:off x="575018" y="2211056"/>
          <a:ext cx="4754880" cy="257677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86097336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68307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Variable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Importancia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71326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Detergents_Paper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79,56% ⭐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7115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Milk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6,63%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99725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Fresh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5,61%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555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Grocery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3,74%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4250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Frozen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2,86%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68671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Delicassen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1,60%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43409854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E889D9B7-8E6A-00A4-39C8-8F23B430AC50}"/>
              </a:ext>
            </a:extLst>
          </p:cNvPr>
          <p:cNvSpPr txBox="1"/>
          <p:nvPr/>
        </p:nvSpPr>
        <p:spPr>
          <a:xfrm>
            <a:off x="550862" y="169314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Datos clave: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EB64AB9-A629-24BA-2708-D1D5F7BA3E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085" y="2837040"/>
            <a:ext cx="6373544" cy="3798375"/>
          </a:xfrm>
          <a:prstGeom prst="rect">
            <a:avLst/>
          </a:prstGeom>
        </p:spPr>
      </p:pic>
      <p:pic>
        <p:nvPicPr>
          <p:cNvPr id="16" name="ttsmaker-file-2026-9-14-20-25-6">
            <a:hlinkClick r:id="" action="ppaction://media"/>
            <a:extLst>
              <a:ext uri="{FF2B5EF4-FFF2-40B4-BE49-F238E27FC236}">
                <a16:creationId xmlns:a16="http://schemas.microsoft.com/office/drawing/2014/main" id="{80166335-AE99-ED3F-2C59-E0382D9A68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43431" y="551342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72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196899"/>
            <a:ext cx="5163851" cy="1830421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algn="l"/>
            <a:r>
              <a:rPr lang="es-ES" b="1" dirty="0"/>
              <a:t>Regresión: Predicción de gasto</a:t>
            </a:r>
          </a:p>
        </p:txBody>
      </p:sp>
      <p:pic>
        <p:nvPicPr>
          <p:cNvPr id="20" name="Marcador de posición de imagen 19" descr="Un primer plano de un grafo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945337C-1B2A-FEB5-0002-B59B5FC64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626532"/>
              </p:ext>
            </p:extLst>
          </p:nvPr>
        </p:nvGraphicFramePr>
        <p:xfrm>
          <a:off x="468458" y="2773231"/>
          <a:ext cx="4754880" cy="147244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65826711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964293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Métrica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Valor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12254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R²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0.7797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25332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RMSE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3.046,52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84699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MAE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2.057,59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13708623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F91B715F-BCB9-78F0-1CB9-50DD4CFBC964}"/>
              </a:ext>
            </a:extLst>
          </p:cNvPr>
          <p:cNvSpPr txBox="1"/>
          <p:nvPr/>
        </p:nvSpPr>
        <p:spPr>
          <a:xfrm>
            <a:off x="646703" y="235490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Métricas: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785FAAA-AEA1-3EAE-913C-410C868BB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687" y="1796207"/>
            <a:ext cx="6776670" cy="4952672"/>
          </a:xfrm>
          <a:prstGeom prst="rect">
            <a:avLst/>
          </a:prstGeom>
        </p:spPr>
      </p:pic>
      <p:pic>
        <p:nvPicPr>
          <p:cNvPr id="16" name="ttsmaker-file-2026-9-14-20-28-35">
            <a:hlinkClick r:id="" action="ppaction://media"/>
            <a:extLst>
              <a:ext uri="{FF2B5EF4-FFF2-40B4-BE49-F238E27FC236}">
                <a16:creationId xmlns:a16="http://schemas.microsoft.com/office/drawing/2014/main" id="{14F638FA-78D5-EDF7-309A-A9B784A1B0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72448" y="552894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2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1"/>
            <a:ext cx="11090275" cy="1237360"/>
          </a:xfrm>
          <a:noFill/>
        </p:spPr>
        <p:txBody>
          <a:bodyPr rtlCol="0" anchor="t">
            <a:noAutofit/>
          </a:bodyPr>
          <a:lstStyle>
            <a:defPPr>
              <a:defRPr lang="es-ES"/>
            </a:defPPr>
          </a:lstStyle>
          <a:p>
            <a:r>
              <a:rPr lang="es-ES" dirty="0"/>
              <a:t>Los 3 modelos en conjunto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471AE9-6794-3577-18DC-DAA8E41B1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343271"/>
              </p:ext>
            </p:extLst>
          </p:nvPr>
        </p:nvGraphicFramePr>
        <p:xfrm>
          <a:off x="550862" y="1744937"/>
          <a:ext cx="11091861" cy="147244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530668">
                  <a:extLst>
                    <a:ext uri="{9D8B030D-6E8A-4147-A177-3AD203B41FA5}">
                      <a16:colId xmlns:a16="http://schemas.microsoft.com/office/drawing/2014/main" val="803483501"/>
                    </a:ext>
                  </a:extLst>
                </a:gridCol>
                <a:gridCol w="2853731">
                  <a:extLst>
                    <a:ext uri="{9D8B030D-6E8A-4147-A177-3AD203B41FA5}">
                      <a16:colId xmlns:a16="http://schemas.microsoft.com/office/drawing/2014/main" val="655145358"/>
                    </a:ext>
                  </a:extLst>
                </a:gridCol>
                <a:gridCol w="2853731">
                  <a:extLst>
                    <a:ext uri="{9D8B030D-6E8A-4147-A177-3AD203B41FA5}">
                      <a16:colId xmlns:a16="http://schemas.microsoft.com/office/drawing/2014/main" val="2443411518"/>
                    </a:ext>
                  </a:extLst>
                </a:gridCol>
                <a:gridCol w="2853731">
                  <a:extLst>
                    <a:ext uri="{9D8B030D-6E8A-4147-A177-3AD203B41FA5}">
                      <a16:colId xmlns:a16="http://schemas.microsoft.com/office/drawing/2014/main" val="1831104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Técnica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Métrica principal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Valor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Rendimiento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1640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Clustering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Silhouette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0.3953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Moderado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9017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Clasificación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F1-score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0.9468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🥇 Excelente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0318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Regresión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R²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0.7797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Bueno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8213919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EB1F610-D1E4-9234-57A1-0AE1A53DD66F}"/>
              </a:ext>
            </a:extLst>
          </p:cNvPr>
          <p:cNvSpPr txBox="1"/>
          <p:nvPr/>
        </p:nvSpPr>
        <p:spPr>
          <a:xfrm>
            <a:off x="550862" y="133131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Tabla resumen: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570288E-F9F1-952D-A09D-66497150A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586973"/>
            <a:ext cx="7982953" cy="2207577"/>
          </a:xfrm>
          <a:prstGeom prst="rect">
            <a:avLst/>
          </a:prstGeom>
        </p:spPr>
      </p:pic>
      <p:pic>
        <p:nvPicPr>
          <p:cNvPr id="13" name="ttsmaker-file-2026-9-14-20-30-12">
            <a:hlinkClick r:id="" action="ppaction://media"/>
            <a:extLst>
              <a:ext uri="{FF2B5EF4-FFF2-40B4-BE49-F238E27FC236}">
                <a16:creationId xmlns:a16="http://schemas.microsoft.com/office/drawing/2014/main" id="{103DF361-070A-6FDE-DBA2-8EAE38F296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0294" y="552668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1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8315"/>
            <a:ext cx="3317290" cy="618590"/>
          </a:xfrm>
          <a:noFill/>
        </p:spPr>
        <p:txBody>
          <a:bodyPr lIns="0" rtlCol="0">
            <a:normAutofit/>
          </a:bodyPr>
          <a:lstStyle>
            <a:defPPr>
              <a:defRPr lang="es-ES"/>
            </a:defPPr>
          </a:lstStyle>
          <a:p>
            <a:r>
              <a:rPr lang="es-ES" dirty="0"/>
              <a:t>Plan de acción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D04E1B-B7BB-A3C9-4753-4E51EFFF03BD}"/>
              </a:ext>
            </a:extLst>
          </p:cNvPr>
          <p:cNvSpPr txBox="1"/>
          <p:nvPr/>
        </p:nvSpPr>
        <p:spPr>
          <a:xfrm>
            <a:off x="1038142" y="1193641"/>
            <a:ext cx="8594640" cy="465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Recomendaciones para </a:t>
            </a: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Dataclysm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Segmentación personalizada: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campañas diferenciadas por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cluster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Cluster 0 → Promociones de carne y congelados</a:t>
            </a: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Cluster 1 → Cross-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selling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de lácteos y limpieza</a:t>
            </a: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Cluster 2 → Campañas de reactivación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Detección automática de canal: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usar el árbol de decisión para clasificar clientes nuevos.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Predicción de gasto: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usar la regresión para estimar ventas futuras y priorizar comerciales.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Foco en clientes pequeños: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representan el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71,6%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pero aportan poco →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mayor oportunidad de crecimiento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1" name="ttsmaker-file-2026-9-14-20-32-50">
            <a:hlinkClick r:id="" action="ppaction://media"/>
            <a:extLst>
              <a:ext uri="{FF2B5EF4-FFF2-40B4-BE49-F238E27FC236}">
                <a16:creationId xmlns:a16="http://schemas.microsoft.com/office/drawing/2014/main" id="{9BD1FD71-ECCD-F145-E77F-FD79A588E5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50546" y="549458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227" y="1049189"/>
            <a:ext cx="3263148" cy="503834"/>
          </a:xfrm>
          <a:noFill/>
        </p:spPr>
        <p:txBody>
          <a:bodyPr rtlCol="0" anchor="t"/>
          <a:lstStyle>
            <a:defPPr>
              <a:defRPr lang="es-ES"/>
            </a:defPPr>
          </a:lstStyle>
          <a:p>
            <a:r>
              <a:rPr lang="es-ES" dirty="0"/>
              <a:t>Conclusiones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8D07EB-5BAC-D0DB-EDD7-3021DBDD4FCA}"/>
              </a:ext>
            </a:extLst>
          </p:cNvPr>
          <p:cNvSpPr txBox="1"/>
          <p:nvPr/>
        </p:nvSpPr>
        <p:spPr>
          <a:xfrm>
            <a:off x="1088858" y="1900990"/>
            <a:ext cx="9899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Data </a:t>
            </a:r>
            <a:r>
              <a:rPr lang="es-ES" dirty="0" err="1"/>
              <a:t>Mining</a:t>
            </a:r>
            <a:r>
              <a:rPr lang="es-ES" dirty="0"/>
              <a:t> transforma datos aparentemente comunes en </a:t>
            </a:r>
            <a:r>
              <a:rPr lang="es-ES" b="1" dirty="0"/>
              <a:t>conocimiento estratégico accionable</a:t>
            </a:r>
            <a:r>
              <a:rPr lang="es-ES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58F416-AF92-D157-642F-44DEED8EA119}"/>
              </a:ext>
            </a:extLst>
          </p:cNvPr>
          <p:cNvSpPr txBox="1"/>
          <p:nvPr/>
        </p:nvSpPr>
        <p:spPr>
          <a:xfrm>
            <a:off x="1285874" y="2870206"/>
            <a:ext cx="6097002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3 conclusiones clave: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3 segmentos claros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de clientes identificados.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Detergents_Paper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es la variable dominante (79,6%) para clasificar.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El modelo de clasificación predice con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94,7% de precisión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ttsmaker-file-2026-9-14-20-35-53">
            <a:hlinkClick r:id="" action="ppaction://media"/>
            <a:extLst>
              <a:ext uri="{FF2B5EF4-FFF2-40B4-BE49-F238E27FC236}">
                <a16:creationId xmlns:a16="http://schemas.microsoft.com/office/drawing/2014/main" id="{E94BD119-764A-4E21-C587-1B6DA23370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442952" y="54524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6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4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b="1" dirty="0"/>
              <a:t>Contacto:</a:t>
            </a:r>
            <a:endParaRPr lang="es-ES" dirty="0"/>
          </a:p>
          <a:p>
            <a:pPr lvl="0"/>
            <a:r>
              <a:rPr lang="es-ES" dirty="0"/>
              <a:t>Autora: Judit Giravent</a:t>
            </a:r>
          </a:p>
          <a:p>
            <a:pPr lvl="0"/>
            <a:r>
              <a:rPr lang="es-ES" dirty="0"/>
              <a:t>GitHub: </a:t>
            </a:r>
            <a:r>
              <a:rPr lang="es-ES" dirty="0">
                <a:hlinkClick r:id="rId3"/>
              </a:rPr>
              <a:t>@jdthgp27</a:t>
            </a:r>
            <a:endParaRPr lang="es-ES" dirty="0"/>
          </a:p>
        </p:txBody>
      </p:sp>
      <p:pic>
        <p:nvPicPr>
          <p:cNvPr id="25" name="Marcador de posición de imagen 24" descr="Primer plano de una red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8_TF33713516_Win32" id="{DF728B89-FC3D-4E3A-BA79-B7D5AFC65CD2}" vid="{705D60A9-8AE8-4A8A-8A2B-380787BFC2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{DA1030E3-E4F3-459D-8F21-59B654652464}TF7eddf224-c89c-478f-8f2f-bfb0868921690f3abf7d_win32-fd26bf0c2aea</Template>
  <TotalTime>37</TotalTime>
  <Words>505</Words>
  <Application>Microsoft Office PowerPoint</Application>
  <PresentationFormat>Panorámica</PresentationFormat>
  <Paragraphs>156</Paragraphs>
  <Slides>13</Slides>
  <Notes>13</Notes>
  <HiddenSlides>0</HiddenSlides>
  <MMClips>12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Gill Sans MT</vt:lpstr>
      <vt:lpstr>Menlo</vt:lpstr>
      <vt:lpstr>quote-cjk-patch</vt:lpstr>
      <vt:lpstr>Walbaum Display</vt:lpstr>
      <vt:lpstr>3DFloatVTI</vt:lpstr>
      <vt:lpstr>Data Mining con Python</vt:lpstr>
      <vt:lpstr>¿Qué queremos descubrir?</vt:lpstr>
      <vt:lpstr>Nuestro enfoque</vt:lpstr>
      <vt:lpstr>Limpieza y preparación</vt:lpstr>
      <vt:lpstr>Segmentación de clientes Atraer al público</vt:lpstr>
      <vt:lpstr>Los 3 segmentos</vt:lpstr>
      <vt:lpstr>Clasificación: Árbol de decisión</vt:lpstr>
      <vt:lpstr>La variable clave</vt:lpstr>
      <vt:lpstr>Regresión: Predicción de gasto</vt:lpstr>
      <vt:lpstr>Los 3 modelos en conjunto</vt:lpstr>
      <vt:lpstr>Plan de acción</vt:lpstr>
      <vt:lpstr>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8</cp:revision>
  <dcterms:created xsi:type="dcterms:W3CDTF">2026-09-14T17:58:32Z</dcterms:created>
  <dcterms:modified xsi:type="dcterms:W3CDTF">2026-09-14T18:36:07Z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